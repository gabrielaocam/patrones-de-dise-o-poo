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1" r:id="rId7"/>
    <p:sldId id="265" r:id="rId8"/>
    <p:sldId id="263" r:id="rId9"/>
    <p:sldId id="266" r:id="rId10"/>
    <p:sldId id="269" r:id="rId11"/>
    <p:sldId id="267" r:id="rId12"/>
    <p:sldId id="260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870CD-DBB0-4181-94C8-02A21993F122}" v="10" dt="2026-09-24T12:57:50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>
        <p:scale>
          <a:sx n="50" d="100"/>
          <a:sy n="50" d="100"/>
        </p:scale>
        <p:origin x="132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Ocampo Morales" userId="e45877061f52fb1d" providerId="LiveId" clId="{8E43BE80-B561-4261-9900-6FA9E5EFED70}"/>
    <pc:docChg chg="undo custSel addSld delSld modSld sldOrd">
      <pc:chgData name="Gabriela Ocampo Morales" userId="e45877061f52fb1d" providerId="LiveId" clId="{8E43BE80-B561-4261-9900-6FA9E5EFED70}" dt="2026-09-24T13:00:18.284" v="70" actId="1076"/>
      <pc:docMkLst>
        <pc:docMk/>
      </pc:docMkLst>
      <pc:sldChg chg="delSp modSp add mod ord">
        <pc:chgData name="Gabriela Ocampo Morales" userId="e45877061f52fb1d" providerId="LiveId" clId="{8E43BE80-B561-4261-9900-6FA9E5EFED70}" dt="2026-09-24T02:50:53.963" v="20" actId="12"/>
        <pc:sldMkLst>
          <pc:docMk/>
          <pc:sldMk cId="3368465540" sldId="267"/>
        </pc:sldMkLst>
        <pc:spChg chg="mod">
          <ac:chgData name="Gabriela Ocampo Morales" userId="e45877061f52fb1d" providerId="LiveId" clId="{8E43BE80-B561-4261-9900-6FA9E5EFED70}" dt="2026-09-24T02:50:00.910" v="11" actId="5793"/>
          <ac:spMkLst>
            <pc:docMk/>
            <pc:sldMk cId="3368465540" sldId="267"/>
            <ac:spMk id="4" creationId="{A4DA4936-6D63-D4F6-9583-37AE0C621431}"/>
          </ac:spMkLst>
        </pc:spChg>
        <pc:spChg chg="mod">
          <ac:chgData name="Gabriela Ocampo Morales" userId="e45877061f52fb1d" providerId="LiveId" clId="{8E43BE80-B561-4261-9900-6FA9E5EFED70}" dt="2026-09-24T02:50:53.963" v="20" actId="12"/>
          <ac:spMkLst>
            <pc:docMk/>
            <pc:sldMk cId="3368465540" sldId="267"/>
            <ac:spMk id="5" creationId="{D4C2DD19-A078-32EE-1C5A-242CF28F67F9}"/>
          </ac:spMkLst>
        </pc:spChg>
        <pc:spChg chg="del">
          <ac:chgData name="Gabriela Ocampo Morales" userId="e45877061f52fb1d" providerId="LiveId" clId="{8E43BE80-B561-4261-9900-6FA9E5EFED70}" dt="2026-09-24T02:50:07.677" v="13" actId="478"/>
          <ac:spMkLst>
            <pc:docMk/>
            <pc:sldMk cId="3368465540" sldId="267"/>
            <ac:spMk id="17" creationId="{32C4E173-F8E3-075D-C848-F8138D10DB15}"/>
          </ac:spMkLst>
        </pc:spChg>
        <pc:picChg chg="del">
          <ac:chgData name="Gabriela Ocampo Morales" userId="e45877061f52fb1d" providerId="LiveId" clId="{8E43BE80-B561-4261-9900-6FA9E5EFED70}" dt="2026-09-24T02:50:03.071" v="12" actId="478"/>
          <ac:picMkLst>
            <pc:docMk/>
            <pc:sldMk cId="3368465540" sldId="267"/>
            <ac:picMk id="3" creationId="{9D9C891F-C86C-DA91-87AF-68DB4D07ABD0}"/>
          </ac:picMkLst>
        </pc:picChg>
      </pc:sldChg>
      <pc:sldChg chg="add del">
        <pc:chgData name="Gabriela Ocampo Morales" userId="e45877061f52fb1d" providerId="LiveId" clId="{8E43BE80-B561-4261-9900-6FA9E5EFED70}" dt="2026-09-24T02:50:14.571" v="16"/>
        <pc:sldMkLst>
          <pc:docMk/>
          <pc:sldMk cId="1873513637" sldId="268"/>
        </pc:sldMkLst>
      </pc:sldChg>
      <pc:sldChg chg="addSp delSp modSp add mod ord setBg">
        <pc:chgData name="Gabriela Ocampo Morales" userId="e45877061f52fb1d" providerId="LiveId" clId="{8E43BE80-B561-4261-9900-6FA9E5EFED70}" dt="2026-09-24T12:56:26.188" v="57" actId="22"/>
        <pc:sldMkLst>
          <pc:docMk/>
          <pc:sldMk cId="2820038097" sldId="268"/>
        </pc:sldMkLst>
        <pc:spChg chg="mod">
          <ac:chgData name="Gabriela Ocampo Morales" userId="e45877061f52fb1d" providerId="LiveId" clId="{8E43BE80-B561-4261-9900-6FA9E5EFED70}" dt="2026-09-24T12:55:17.501" v="44" actId="20577"/>
          <ac:spMkLst>
            <pc:docMk/>
            <pc:sldMk cId="2820038097" sldId="268"/>
            <ac:spMk id="5" creationId="{69D651E5-AB63-40C9-BEB2-93118D974FD8}"/>
          </ac:spMkLst>
        </pc:spChg>
        <pc:spChg chg="del">
          <ac:chgData name="Gabriela Ocampo Morales" userId="e45877061f52fb1d" providerId="LiveId" clId="{8E43BE80-B561-4261-9900-6FA9E5EFED70}" dt="2026-09-24T12:56:02.159" v="52" actId="478"/>
          <ac:spMkLst>
            <pc:docMk/>
            <pc:sldMk cId="2820038097" sldId="268"/>
            <ac:spMk id="9" creationId="{F72C15EA-1A13-22DD-775A-C4723F1E219A}"/>
          </ac:spMkLst>
        </pc:spChg>
        <pc:spChg chg="del">
          <ac:chgData name="Gabriela Ocampo Morales" userId="e45877061f52fb1d" providerId="LiveId" clId="{8E43BE80-B561-4261-9900-6FA9E5EFED70}" dt="2026-09-24T12:54:45.525" v="24" actId="478"/>
          <ac:spMkLst>
            <pc:docMk/>
            <pc:sldMk cId="2820038097" sldId="268"/>
            <ac:spMk id="17" creationId="{8E6F8781-0F6E-B72B-D080-6B9AA6AEE27C}"/>
          </ac:spMkLst>
        </pc:spChg>
        <pc:picChg chg="add mod ord">
          <ac:chgData name="Gabriela Ocampo Morales" userId="e45877061f52fb1d" providerId="LiveId" clId="{8E43BE80-B561-4261-9900-6FA9E5EFED70}" dt="2026-09-24T12:56:20.435" v="55" actId="1076"/>
          <ac:picMkLst>
            <pc:docMk/>
            <pc:sldMk cId="2820038097" sldId="268"/>
            <ac:picMk id="3" creationId="{10F02A9E-7F31-BDE1-8A21-CB619A69DC23}"/>
          </ac:picMkLst>
        </pc:picChg>
        <pc:picChg chg="add del">
          <ac:chgData name="Gabriela Ocampo Morales" userId="e45877061f52fb1d" providerId="LiveId" clId="{8E43BE80-B561-4261-9900-6FA9E5EFED70}" dt="2026-09-24T12:56:26.188" v="57" actId="22"/>
          <ac:picMkLst>
            <pc:docMk/>
            <pc:sldMk cId="2820038097" sldId="268"/>
            <ac:picMk id="7" creationId="{C801D22B-7DDF-B652-6D53-F0588B69538F}"/>
          </ac:picMkLst>
        </pc:picChg>
        <pc:picChg chg="del">
          <ac:chgData name="Gabriela Ocampo Morales" userId="e45877061f52fb1d" providerId="LiveId" clId="{8E43BE80-B561-4261-9900-6FA9E5EFED70}" dt="2026-09-24T12:54:46.990" v="25" actId="478"/>
          <ac:picMkLst>
            <pc:docMk/>
            <pc:sldMk cId="2820038097" sldId="268"/>
            <ac:picMk id="19" creationId="{F01FBCB2-3D77-E9AD-EA85-0B09DB8E0B4D}"/>
          </ac:picMkLst>
        </pc:picChg>
      </pc:sldChg>
      <pc:sldChg chg="addSp delSp modSp add mod ord">
        <pc:chgData name="Gabriela Ocampo Morales" userId="e45877061f52fb1d" providerId="LiveId" clId="{8E43BE80-B561-4261-9900-6FA9E5EFED70}" dt="2026-09-24T13:00:18.284" v="70" actId="1076"/>
        <pc:sldMkLst>
          <pc:docMk/>
          <pc:sldMk cId="653244735" sldId="269"/>
        </pc:sldMkLst>
        <pc:spChg chg="mod">
          <ac:chgData name="Gabriela Ocampo Morales" userId="e45877061f52fb1d" providerId="LiveId" clId="{8E43BE80-B561-4261-9900-6FA9E5EFED70}" dt="2026-09-24T12:57:53.035" v="62" actId="14100"/>
          <ac:spMkLst>
            <pc:docMk/>
            <pc:sldMk cId="653244735" sldId="269"/>
            <ac:spMk id="4" creationId="{D6DC8C53-4F0A-9742-4072-98077433C25D}"/>
          </ac:spMkLst>
        </pc:spChg>
        <pc:picChg chg="del">
          <ac:chgData name="Gabriela Ocampo Morales" userId="e45877061f52fb1d" providerId="LiveId" clId="{8E43BE80-B561-4261-9900-6FA9E5EFED70}" dt="2026-09-24T12:57:55.243" v="63" actId="478"/>
          <ac:picMkLst>
            <pc:docMk/>
            <pc:sldMk cId="653244735" sldId="269"/>
            <ac:picMk id="3" creationId="{7F3E9681-720B-54A3-151D-C2F56C34B664}"/>
          </ac:picMkLst>
        </pc:picChg>
        <pc:picChg chg="add mod ord">
          <ac:chgData name="Gabriela Ocampo Morales" userId="e45877061f52fb1d" providerId="LiveId" clId="{8E43BE80-B561-4261-9900-6FA9E5EFED70}" dt="2026-09-24T13:00:18.284" v="70" actId="1076"/>
          <ac:picMkLst>
            <pc:docMk/>
            <pc:sldMk cId="653244735" sldId="269"/>
            <ac:picMk id="6" creationId="{2E2C5598-30E3-18D7-F604-34A17EB0601A}"/>
          </ac:picMkLst>
        </pc:picChg>
      </pc:sldChg>
      <pc:sldChg chg="add del setBg">
        <pc:chgData name="Gabriela Ocampo Morales" userId="e45877061f52fb1d" providerId="LiveId" clId="{8E43BE80-B561-4261-9900-6FA9E5EFED70}" dt="2026-09-24T12:55:23.891" v="46"/>
        <pc:sldMkLst>
          <pc:docMk/>
          <pc:sldMk cId="2556058952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44965-58BC-407B-8954-099AF3974305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C5254-4334-4AD3-917E-F4BA977A1CB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286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C5254-4334-4AD3-917E-F4BA977A1CB3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0766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1CD0C-2133-1BEB-B1D0-2B5BA87B0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66585A-B9A6-1153-1B3F-631F77B9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C95B5-498E-3803-3AB8-D8181146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CE6B0-210F-8232-7203-DEA42DC0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824E0D-E6C8-44AF-E902-56158D2A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95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D6C11-2F68-0AA4-5D2D-B5D81CA2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A774E-F425-9451-2AD3-69C4CA34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D38164-B509-50D7-F133-B0D241A2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201D6-698C-F87A-E87B-90B38865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D4390E-5080-AE27-848F-DE99B7E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99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1F43B-6F90-3C9A-721D-847746D8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2805D2-D47A-E1C0-302A-7BB9D046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1E4870-6C61-F8D6-F30F-159BDEB9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712B1C-6462-CA09-DD85-B9A01082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22A97A-0F17-7FD2-212C-3029940C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71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161EC-0316-6F85-1E61-6DBCB402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D347F2-FC82-C076-01DE-0936CFC48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0F09E2-86C5-D68C-6770-CC9276E30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5216C7-A653-7989-EBE3-82E43695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0FA8D9-DD0C-08C2-5C81-28054EF0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9524B-2360-C1E7-0478-D6A0D2AE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8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8BE79-344B-3711-264F-57C7E63A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CC3AA-8215-056C-2A41-E56566F9C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211A87-89E2-5D25-B2ED-57078C2B6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E39C36-017C-3060-41E0-299B3450A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890FD3-2935-8032-0EB3-1FC3B8C2E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CADFA3-E82F-0317-AD8F-8D23EC41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88C78A-5B6C-10FA-EDF0-695E7063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B40355-4549-A31B-969F-3574C6ED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1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ED56A-4167-233A-B17A-4EA99DEA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0ECB5D-9483-99FF-8340-A5AFB86E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DB8DE2-7185-0915-7BC7-2E69A4AC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A605D0-CE9B-9FAD-2423-243602F2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95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A0CC1B-120C-0F49-D36D-BAEA60A7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8C13FED-D615-8DC2-101D-1DF2E4E4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1C7337-BFDB-B02E-ABB0-E5F83488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1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E25C8-728A-6BA2-6934-E8192C5A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3D7EC-3401-B428-49CE-0A834F813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0D5D9E-91E8-3A0F-1BBA-D22CF9A40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1744F7-4977-D716-D08F-2D943793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CF612-0764-A237-6897-F8915658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E1CE97-CEF7-7A2A-C0E7-BF3ECF1B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514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BF6FF-9D40-4E22-423A-24BCED9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AE2320-1EF8-003E-2F6F-991A9E8BE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8EBBEE-3BC4-8972-A192-830C1E66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28B12D-1D38-E41C-6803-3FE1E40E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3D7CE7-FABD-36B4-343A-099F0634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4B1085-6A7E-F994-332B-F9D4ED7A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46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D6CD1-97A6-41D4-28AA-B32F657D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EF27E2-E27E-149C-BC2C-E16CF5B6A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5D596B-F08E-D8DC-3217-046FC789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465918-6A68-CE14-D808-1B90E20C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D175A-B95F-2937-C436-441D1C53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542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52D2DB-EFA7-98E3-90EE-8EB3AA390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46938F-F1E8-0110-3C15-B607291B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93203-DCE5-F0FB-F797-60563B5B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442C7-77F8-3A9E-4D25-ED66E61F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383B7-3672-B332-2E2D-96ABBFE5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844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5E03C0-4FF8-9B66-804E-9DB25FA2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E8E20-C9F3-92B2-BB3C-35445007D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CDC47-BF3C-C07C-BF61-73B5ECC9B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595B2-135B-48A5-BC21-28672747E2A0}" type="datetimeFigureOut">
              <a:rPr lang="es-CO" smtClean="0"/>
              <a:t>24/09/2026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BD969-ED41-AF96-E758-7B89E1583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A31B0-02B2-5B64-BD04-BA5B0FF61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31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es/design-patterns/flyweight" TargetMode="External"/><Relationship Id="rId2" Type="http://schemas.openxmlformats.org/officeDocument/2006/relationships/hyperlink" Target="https://tutorialesprogramacionya.com/disenosoftware/patronesdedisenogofcsharp/tema17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utorialesprogramacionya.com/disenosoftware/patronesdedisenogofcsharp/tema26.html" TargetMode="External"/><Relationship Id="rId4" Type="http://schemas.openxmlformats.org/officeDocument/2006/relationships/hyperlink" Target="https://refactoring.guru/es/design-patterns/memento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7BFA4CA-B9E0-46E2-7D90-68EC6C9199D2}"/>
              </a:ext>
            </a:extLst>
          </p:cNvPr>
          <p:cNvSpPr txBox="1"/>
          <p:nvPr/>
        </p:nvSpPr>
        <p:spPr>
          <a:xfrm>
            <a:off x="5902037" y="2699542"/>
            <a:ext cx="5643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Flyweight</a:t>
            </a:r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Memento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20E6A6-0A78-F7F3-8D6A-6DF0810D021B}"/>
              </a:ext>
            </a:extLst>
          </p:cNvPr>
          <p:cNvSpPr txBox="1"/>
          <p:nvPr/>
        </p:nvSpPr>
        <p:spPr>
          <a:xfrm>
            <a:off x="5902037" y="3345873"/>
            <a:ext cx="334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Patrones de diseño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7778F3-8D27-7038-9A7B-DC089F793344}"/>
              </a:ext>
            </a:extLst>
          </p:cNvPr>
          <p:cNvSpPr txBox="1"/>
          <p:nvPr/>
        </p:nvSpPr>
        <p:spPr>
          <a:xfrm>
            <a:off x="3689929" y="6075218"/>
            <a:ext cx="785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i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Gabriela Ocampo Morales Sara Mariana Garzón | Facultad de Ingeniería</a:t>
            </a:r>
          </a:p>
        </p:txBody>
      </p:sp>
    </p:spTree>
    <p:extLst>
      <p:ext uri="{BB962C8B-B14F-4D97-AF65-F5344CB8AC3E}">
        <p14:creationId xmlns:p14="http://schemas.microsoft.com/office/powerpoint/2010/main" val="25936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19F30A-42D8-A2DC-4EE8-D256F8BDDDE7}"/>
              </a:ext>
            </a:extLst>
          </p:cNvPr>
          <p:cNvSpPr txBox="1"/>
          <p:nvPr/>
        </p:nvSpPr>
        <p:spPr>
          <a:xfrm>
            <a:off x="905164" y="612125"/>
            <a:ext cx="5030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Flyweight</a:t>
            </a:r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-estructural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6F389E2-14FA-0B40-6E08-75D666CA145C}"/>
              </a:ext>
            </a:extLst>
          </p:cNvPr>
          <p:cNvSpPr txBox="1"/>
          <p:nvPr/>
        </p:nvSpPr>
        <p:spPr>
          <a:xfrm>
            <a:off x="905163" y="1833371"/>
            <a:ext cx="3928094" cy="244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3501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Definición</a:t>
            </a:r>
            <a:endParaRPr lang="en-US" b="1" dirty="0">
              <a:solidFill>
                <a:srgbClr val="13501B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Mantiene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más objetos en la RAM disponible compartiendo las partes comunes del estado entre varios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objetos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0" indent="0">
              <a:spcAft>
                <a:spcPts val="300"/>
              </a:spcAft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También llamado: Peso mosca, Peso ligero, Cache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37F83B9-E3A1-5D2B-2BFF-2D797EC5E39E}"/>
              </a:ext>
            </a:extLst>
          </p:cNvPr>
          <p:cNvSpPr txBox="1"/>
          <p:nvPr/>
        </p:nvSpPr>
        <p:spPr>
          <a:xfrm>
            <a:off x="6431280" y="183337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501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 </a:t>
            </a:r>
            <a:r>
              <a:rPr lang="en-US" b="1" dirty="0" err="1">
                <a:solidFill>
                  <a:srgbClr val="13501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problema</a:t>
            </a:r>
            <a:endParaRPr lang="en-US" b="1" dirty="0">
              <a:solidFill>
                <a:srgbClr val="13501B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Editores, videojuegos, mapas o sistemas financieros manejan colecciones enormes de elementos repetidos (letras, celdas, partículas, fichas). Crear un objeto completo por cada uno dispara la memoria y puede causar errores de asignación.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6E5F66E-8623-78EA-FBD9-78FCE55F6DE5}"/>
              </a:ext>
            </a:extLst>
          </p:cNvPr>
          <p:cNvCxnSpPr>
            <a:cxnSpLocks/>
          </p:cNvCxnSpPr>
          <p:nvPr/>
        </p:nvCxnSpPr>
        <p:spPr>
          <a:xfrm>
            <a:off x="5791200" y="1567543"/>
            <a:ext cx="0" cy="3331028"/>
          </a:xfrm>
          <a:prstGeom prst="line">
            <a:avLst/>
          </a:prstGeom>
          <a:ln>
            <a:solidFill>
              <a:srgbClr val="13501B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D8419F5-F7AA-3295-505E-D923FC4EBEDC}"/>
              </a:ext>
            </a:extLst>
          </p:cNvPr>
          <p:cNvSpPr txBox="1"/>
          <p:nvPr/>
        </p:nvSpPr>
        <p:spPr>
          <a:xfrm>
            <a:off x="905164" y="612124"/>
            <a:ext cx="5789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Flyweight</a:t>
            </a:r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-estructural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BC89F5-AD4D-BF71-95C7-5F493E2FB29E}"/>
              </a:ext>
            </a:extLst>
          </p:cNvPr>
          <p:cNvSpPr txBox="1"/>
          <p:nvPr/>
        </p:nvSpPr>
        <p:spPr>
          <a:xfrm>
            <a:off x="905164" y="1540378"/>
            <a:ext cx="1068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utiliza cuando...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A0E8D27-9361-3E0F-23DC-2909832AC76A}"/>
              </a:ext>
            </a:extLst>
          </p:cNvPr>
          <p:cNvSpPr/>
          <p:nvPr/>
        </p:nvSpPr>
        <p:spPr>
          <a:xfrm>
            <a:off x="457200" y="31546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949B6131-834B-2573-4827-1AF8684F0313}"/>
              </a:ext>
            </a:extLst>
          </p:cNvPr>
          <p:cNvSpPr txBox="1"/>
          <p:nvPr/>
        </p:nvSpPr>
        <p:spPr>
          <a:xfrm>
            <a:off x="914400" y="2217420"/>
            <a:ext cx="49203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 necesitan millones de instancias que reutilizan casi todos sus datos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Hay estado inmutable que puede factorizarse en una representación común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Encontrar un flyweight existente cuesta menos que crear uno nuevo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Hay que reducir la presión de memoria o los tiempos de carga sin cambiar la interfaz pública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59CD64E-A645-7DD9-EE41-D34227DA6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631" y="1714646"/>
            <a:ext cx="5535005" cy="360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F25EB802-0180-9FAE-8295-3E73EA38FE19}"/>
              </a:ext>
            </a:extLst>
          </p:cNvPr>
          <p:cNvSpPr/>
          <p:nvPr/>
        </p:nvSpPr>
        <p:spPr>
          <a:xfrm>
            <a:off x="6427486" y="2530187"/>
            <a:ext cx="5007429" cy="2340082"/>
          </a:xfrm>
          <a:prstGeom prst="rect">
            <a:avLst/>
          </a:prstGeom>
          <a:solidFill>
            <a:srgbClr val="13501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600401D-471F-2C33-613E-622D62F79E77}"/>
              </a:ext>
            </a:extLst>
          </p:cNvPr>
          <p:cNvSpPr/>
          <p:nvPr/>
        </p:nvSpPr>
        <p:spPr>
          <a:xfrm>
            <a:off x="905163" y="2530187"/>
            <a:ext cx="5007429" cy="2340082"/>
          </a:xfrm>
          <a:prstGeom prst="rect">
            <a:avLst/>
          </a:prstGeom>
          <a:solidFill>
            <a:srgbClr val="13501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44479C-7C06-40E0-1A2C-0C2DE2CA8051}"/>
              </a:ext>
            </a:extLst>
          </p:cNvPr>
          <p:cNvSpPr txBox="1"/>
          <p:nvPr/>
        </p:nvSpPr>
        <p:spPr>
          <a:xfrm>
            <a:off x="905163" y="612124"/>
            <a:ext cx="5996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Flyweight</a:t>
            </a:r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-estructural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1F3A9C-A7C2-30CB-03D1-2D658E90261B}"/>
              </a:ext>
            </a:extLst>
          </p:cNvPr>
          <p:cNvSpPr txBox="1"/>
          <p:nvPr/>
        </p:nvSpPr>
        <p:spPr>
          <a:xfrm>
            <a:off x="905164" y="1540378"/>
            <a:ext cx="10686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Estado </a:t>
            </a:r>
            <a:r>
              <a:rPr lang="en-US" sz="2000" dirty="0" err="1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intrínseco</a:t>
            </a:r>
            <a:r>
              <a:rPr lang="en-US" sz="2000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vs. </a:t>
            </a:r>
            <a:r>
              <a:rPr lang="en-US" sz="2000" dirty="0" err="1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extrínseco</a:t>
            </a:r>
            <a:endParaRPr lang="en-US" sz="20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9F90018-5307-FAA3-E586-92CD8D4561D1}"/>
              </a:ext>
            </a:extLst>
          </p:cNvPr>
          <p:cNvSpPr/>
          <p:nvPr/>
        </p:nvSpPr>
        <p:spPr>
          <a:xfrm>
            <a:off x="1420057" y="2831548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5E51C33-B258-2224-27DB-424616EAE8C7}"/>
              </a:ext>
            </a:extLst>
          </p:cNvPr>
          <p:cNvSpPr txBox="1"/>
          <p:nvPr/>
        </p:nvSpPr>
        <p:spPr>
          <a:xfrm>
            <a:off x="2729065" y="286728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Intrínseco</a:t>
            </a:r>
            <a:endParaRPr lang="en-US" sz="22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FE688DC-81EC-1EC9-C211-D433F4F1A30D}"/>
              </a:ext>
            </a:extLst>
          </p:cNvPr>
          <p:cNvSpPr txBox="1"/>
          <p:nvPr/>
        </p:nvSpPr>
        <p:spPr>
          <a:xfrm>
            <a:off x="1648657" y="334642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Inmutable y compartible.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Pertenece al </a:t>
            </a: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flyweight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y no depende del contexto de uso.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B1AA7F08-1AB8-0504-F019-0098302226F7}"/>
              </a:ext>
            </a:extLst>
          </p:cNvPr>
          <p:cNvSpPr/>
          <p:nvPr/>
        </p:nvSpPr>
        <p:spPr>
          <a:xfrm>
            <a:off x="7022903" y="2831548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2AE471D8-8653-59C4-03AE-39C635EEF90F}"/>
              </a:ext>
            </a:extLst>
          </p:cNvPr>
          <p:cNvSpPr txBox="1"/>
          <p:nvPr/>
        </p:nvSpPr>
        <p:spPr>
          <a:xfrm>
            <a:off x="7251503" y="34290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Varía en cada uso.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Aft>
                <a:spcPts val="3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Lo pasa el cliente al invocar las operaciones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E795C22-FEAB-436A-0BAC-CE0237CD147D}"/>
              </a:ext>
            </a:extLst>
          </p:cNvPr>
          <p:cNvSpPr txBox="1"/>
          <p:nvPr/>
        </p:nvSpPr>
        <p:spPr>
          <a:xfrm>
            <a:off x="8360757" y="288922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Extrínseco</a:t>
            </a:r>
            <a:endParaRPr lang="en-US" sz="22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7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436F-BB6C-A983-DB21-28B437F4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D8ACF29-880F-0D2C-8C80-AEBE211E9209}"/>
              </a:ext>
            </a:extLst>
          </p:cNvPr>
          <p:cNvSpPr txBox="1"/>
          <p:nvPr/>
        </p:nvSpPr>
        <p:spPr>
          <a:xfrm>
            <a:off x="905164" y="612124"/>
            <a:ext cx="5789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Flyweight</a:t>
            </a:r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-estructural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F02A9E-7F31-BDE1-8A21-CB619A69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183" y="1830234"/>
            <a:ext cx="7197634" cy="441564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9D651E5-AB63-40C9-BEB2-93118D974FD8}"/>
              </a:ext>
            </a:extLst>
          </p:cNvPr>
          <p:cNvSpPr txBox="1"/>
          <p:nvPr/>
        </p:nvSpPr>
        <p:spPr>
          <a:xfrm>
            <a:off x="905164" y="1540378"/>
            <a:ext cx="1068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de clases...</a:t>
            </a:r>
          </a:p>
        </p:txBody>
      </p:sp>
    </p:spTree>
    <p:extLst>
      <p:ext uri="{BB962C8B-B14F-4D97-AF65-F5344CB8AC3E}">
        <p14:creationId xmlns:p14="http://schemas.microsoft.com/office/powerpoint/2010/main" val="282003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7DBF-4607-F17D-B989-805A5EE8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FD3937F-D0B8-1F94-440A-C80B90BB4291}"/>
              </a:ext>
            </a:extLst>
          </p:cNvPr>
          <p:cNvSpPr txBox="1"/>
          <p:nvPr/>
        </p:nvSpPr>
        <p:spPr>
          <a:xfrm>
            <a:off x="905164" y="612125"/>
            <a:ext cx="7172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Memento-comportamiento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F59C675-2AA6-C28C-F1AE-F54B93C7B59A}"/>
              </a:ext>
            </a:extLst>
          </p:cNvPr>
          <p:cNvSpPr txBox="1"/>
          <p:nvPr/>
        </p:nvSpPr>
        <p:spPr>
          <a:xfrm>
            <a:off x="905163" y="1833371"/>
            <a:ext cx="3928094" cy="244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13501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Definición</a:t>
            </a:r>
            <a:endParaRPr lang="en-US" b="1" dirty="0">
              <a:solidFill>
                <a:srgbClr val="13501B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Guarda y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restaura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el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estado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previo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 un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objeto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sin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revelar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implementación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mediante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instantáneas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(mementos).</a:t>
            </a:r>
          </a:p>
          <a:p>
            <a:pPr>
              <a:spcAft>
                <a:spcPts val="30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También </a:t>
            </a:r>
            <a:r>
              <a:rPr lang="en-US" i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llamado</a:t>
            </a:r>
            <a:r>
              <a:rPr lang="en-US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Recuerdo, </a:t>
            </a:r>
            <a:r>
              <a:rPr lang="en-US" i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Instantánea</a:t>
            </a:r>
            <a:r>
              <a:rPr lang="en-US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Snapshot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DFB69B5-1DE8-DE0D-9BBC-572C5C744479}"/>
              </a:ext>
            </a:extLst>
          </p:cNvPr>
          <p:cNvSpPr txBox="1"/>
          <p:nvPr/>
        </p:nvSpPr>
        <p:spPr>
          <a:xfrm>
            <a:off x="6431280" y="183337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3501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 </a:t>
            </a:r>
            <a:r>
              <a:rPr lang="en-US" b="1" dirty="0" err="1">
                <a:solidFill>
                  <a:srgbClr val="13501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problema</a:t>
            </a:r>
            <a:endParaRPr lang="en-US" b="1" dirty="0">
              <a:solidFill>
                <a:srgbClr val="13501B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spcAft>
                <a:spcPts val="300"/>
              </a:spcAft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Para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implementar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undo/redo o puntos de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restauración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hay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capturar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el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estado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objetos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complejos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Una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copia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superficial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puede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no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bastar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y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exponer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getters de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todo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compromete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encapsulación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Memento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delega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captura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al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originador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conoce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estructura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interna.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E2ECA25-69E7-B4DE-BD5E-A06639879907}"/>
              </a:ext>
            </a:extLst>
          </p:cNvPr>
          <p:cNvCxnSpPr>
            <a:cxnSpLocks/>
          </p:cNvCxnSpPr>
          <p:nvPr/>
        </p:nvCxnSpPr>
        <p:spPr>
          <a:xfrm>
            <a:off x="5791200" y="1567543"/>
            <a:ext cx="0" cy="3331028"/>
          </a:xfrm>
          <a:prstGeom prst="line">
            <a:avLst/>
          </a:prstGeom>
          <a:ln>
            <a:solidFill>
              <a:srgbClr val="13501B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192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39A5-03C0-8A64-7FDD-9E27B2E7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B5E5F4D-2E22-140E-317A-FBC40C84FC04}"/>
              </a:ext>
            </a:extLst>
          </p:cNvPr>
          <p:cNvSpPr txBox="1"/>
          <p:nvPr/>
        </p:nvSpPr>
        <p:spPr>
          <a:xfrm>
            <a:off x="905164" y="612124"/>
            <a:ext cx="693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Memento-comportamiento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493FF2-DDAE-2AC7-6D29-823EF87C6F1D}"/>
              </a:ext>
            </a:extLst>
          </p:cNvPr>
          <p:cNvSpPr txBox="1"/>
          <p:nvPr/>
        </p:nvSpPr>
        <p:spPr>
          <a:xfrm>
            <a:off x="905164" y="1540378"/>
            <a:ext cx="1068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utiliza cuando...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23720DA-CA15-2044-871A-93A166588DA7}"/>
              </a:ext>
            </a:extLst>
          </p:cNvPr>
          <p:cNvSpPr/>
          <p:nvPr/>
        </p:nvSpPr>
        <p:spPr>
          <a:xfrm>
            <a:off x="457200" y="31546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3B9E5034-AF66-7A27-D147-BAB7016D07BD}"/>
              </a:ext>
            </a:extLst>
          </p:cNvPr>
          <p:cNvSpPr txBox="1"/>
          <p:nvPr/>
        </p:nvSpPr>
        <p:spPr>
          <a:xfrm>
            <a:off x="914400" y="2217420"/>
            <a:ext cx="49203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Necesitas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un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historial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para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deshacer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rehacer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operaciones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El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objeto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tiene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estructura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interna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compleja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el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cliente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no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debe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Quieres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snapshots para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auditoría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replicación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o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simulaciones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Debes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comparar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estados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sin romper el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encapsulamiento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4E658A-C920-F9ED-91D8-8195F3001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576" y="1675119"/>
            <a:ext cx="5831224" cy="388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A26D-5BC0-AA63-C57F-B2A15452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A4CA329-8FA0-5834-C10E-5B8A05A10866}"/>
              </a:ext>
            </a:extLst>
          </p:cNvPr>
          <p:cNvSpPr txBox="1"/>
          <p:nvPr/>
        </p:nvSpPr>
        <p:spPr>
          <a:xfrm>
            <a:off x="905164" y="612125"/>
            <a:ext cx="9363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Memento-comportamiento</a:t>
            </a:r>
            <a:endParaRPr lang="es-CO" sz="3600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859B55D-35D0-D4CB-B292-F0CA7DB8C9EB}"/>
              </a:ext>
            </a:extLst>
          </p:cNvPr>
          <p:cNvSpPr/>
          <p:nvPr/>
        </p:nvSpPr>
        <p:spPr>
          <a:xfrm>
            <a:off x="1230086" y="2125435"/>
            <a:ext cx="3085011" cy="2794363"/>
          </a:xfrm>
          <a:prstGeom prst="roundRect">
            <a:avLst>
              <a:gd name="adj" fmla="val 3077"/>
            </a:avLst>
          </a:prstGeom>
          <a:solidFill>
            <a:srgbClr val="13501B"/>
          </a:solidFill>
          <a:ln w="12700"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8DC3AAB-0044-69BA-76D6-2DE2E85F6C96}"/>
              </a:ext>
            </a:extLst>
          </p:cNvPr>
          <p:cNvSpPr/>
          <p:nvPr/>
        </p:nvSpPr>
        <p:spPr>
          <a:xfrm>
            <a:off x="1545771" y="2492829"/>
            <a:ext cx="2429694" cy="198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E98F441-3EAA-3464-4CB5-0DE577433B6D}"/>
              </a:ext>
            </a:extLst>
          </p:cNvPr>
          <p:cNvSpPr txBox="1"/>
          <p:nvPr/>
        </p:nvSpPr>
        <p:spPr>
          <a:xfrm>
            <a:off x="2120537" y="275653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Originator</a:t>
            </a:r>
            <a:endParaRPr lang="en-US" sz="20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AD53247-EBCD-7681-C852-071A71FC5799}"/>
              </a:ext>
            </a:extLst>
          </p:cNvPr>
          <p:cNvSpPr txBox="1"/>
          <p:nvPr/>
        </p:nvSpPr>
        <p:spPr>
          <a:xfrm>
            <a:off x="1705793" y="3305991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Objeto cuyo estado se captura. Sabe cómo crear y restaurar mementos.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A29DAE75-5CE1-42B1-0111-244821EBD7FE}"/>
              </a:ext>
            </a:extLst>
          </p:cNvPr>
          <p:cNvSpPr/>
          <p:nvPr/>
        </p:nvSpPr>
        <p:spPr>
          <a:xfrm>
            <a:off x="4595949" y="2138225"/>
            <a:ext cx="2913017" cy="2768782"/>
          </a:xfrm>
          <a:prstGeom prst="roundRect">
            <a:avLst>
              <a:gd name="adj" fmla="val 3077"/>
            </a:avLst>
          </a:prstGeom>
          <a:solidFill>
            <a:srgbClr val="13501B"/>
          </a:solidFill>
          <a:ln w="12700"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7416373-0878-F011-CEA0-2739A2D8507F}"/>
              </a:ext>
            </a:extLst>
          </p:cNvPr>
          <p:cNvSpPr/>
          <p:nvPr/>
        </p:nvSpPr>
        <p:spPr>
          <a:xfrm>
            <a:off x="4860470" y="2492828"/>
            <a:ext cx="2429694" cy="198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806156AD-43F2-DB53-40FB-3F44C8DCB23D}"/>
              </a:ext>
            </a:extLst>
          </p:cNvPr>
          <p:cNvSpPr txBox="1"/>
          <p:nvPr/>
        </p:nvSpPr>
        <p:spPr>
          <a:xfrm>
            <a:off x="4955177" y="273578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Memento</a:t>
            </a:r>
            <a:endParaRPr lang="en-US" sz="20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389911BC-2A4C-A979-93A9-D275B6238755}"/>
              </a:ext>
            </a:extLst>
          </p:cNvPr>
          <p:cNvSpPr txBox="1"/>
          <p:nvPr/>
        </p:nvSpPr>
        <p:spPr>
          <a:xfrm>
            <a:off x="5000897" y="3252514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Representación inmutable del estado interno. Puede dividirse en interfaces pública y privada.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392AA3BB-6F77-0284-180C-F2D945C60D45}"/>
              </a:ext>
            </a:extLst>
          </p:cNvPr>
          <p:cNvSpPr/>
          <p:nvPr/>
        </p:nvSpPr>
        <p:spPr>
          <a:xfrm>
            <a:off x="7737565" y="2109107"/>
            <a:ext cx="2913016" cy="2768782"/>
          </a:xfrm>
          <a:prstGeom prst="roundRect">
            <a:avLst>
              <a:gd name="adj" fmla="val 3077"/>
            </a:avLst>
          </a:prstGeom>
          <a:solidFill>
            <a:srgbClr val="13501B"/>
          </a:solidFill>
          <a:ln w="12700"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CEA6A21-327E-1599-4CEA-E1C14C7BAD8B}"/>
              </a:ext>
            </a:extLst>
          </p:cNvPr>
          <p:cNvSpPr/>
          <p:nvPr/>
        </p:nvSpPr>
        <p:spPr>
          <a:xfrm>
            <a:off x="7979226" y="2502762"/>
            <a:ext cx="2429694" cy="198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DF4F8274-3AB3-6F23-8C6A-2CF43958E23D}"/>
              </a:ext>
            </a:extLst>
          </p:cNvPr>
          <p:cNvSpPr txBox="1"/>
          <p:nvPr/>
        </p:nvSpPr>
        <p:spPr>
          <a:xfrm>
            <a:off x="8649783" y="273578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Caretaker</a:t>
            </a:r>
            <a:endParaRPr lang="en-US" sz="20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D772FDC8-0313-A488-2FFD-68CFA5159FAF}"/>
              </a:ext>
            </a:extLst>
          </p:cNvPr>
          <p:cNvSpPr txBox="1"/>
          <p:nvPr/>
        </p:nvSpPr>
        <p:spPr>
          <a:xfrm>
            <a:off x="8119653" y="3267107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Almacena y administra los mementos sin manipular su contenido.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9C753E9C-7864-809C-14FF-E922351EB15E}"/>
              </a:ext>
            </a:extLst>
          </p:cNvPr>
          <p:cNvSpPr txBox="1"/>
          <p:nvPr/>
        </p:nvSpPr>
        <p:spPr>
          <a:xfrm>
            <a:off x="1179452" y="5057979"/>
            <a:ext cx="9514110" cy="1017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Flujo: el Originator crea el memento  →  el Caretaker lo guarda  →  el Originator lo usa para restaurarse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79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60A9-963B-9122-A03E-9BA6F5A6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0344B2BD-1429-DF17-B250-B165D66B48BB}"/>
              </a:ext>
            </a:extLst>
          </p:cNvPr>
          <p:cNvSpPr/>
          <p:nvPr/>
        </p:nvSpPr>
        <p:spPr>
          <a:xfrm>
            <a:off x="6427486" y="2510670"/>
            <a:ext cx="5007429" cy="2340082"/>
          </a:xfrm>
          <a:prstGeom prst="rect">
            <a:avLst/>
          </a:prstGeom>
          <a:solidFill>
            <a:srgbClr val="13501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19297DE-AF67-3C97-0C9A-D5CDFFB62B9B}"/>
              </a:ext>
            </a:extLst>
          </p:cNvPr>
          <p:cNvSpPr/>
          <p:nvPr/>
        </p:nvSpPr>
        <p:spPr>
          <a:xfrm>
            <a:off x="905163" y="2530187"/>
            <a:ext cx="5007429" cy="2340082"/>
          </a:xfrm>
          <a:prstGeom prst="rect">
            <a:avLst/>
          </a:prstGeom>
          <a:solidFill>
            <a:srgbClr val="13501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993745-4FE0-E95D-A743-75A226BBE0F2}"/>
              </a:ext>
            </a:extLst>
          </p:cNvPr>
          <p:cNvSpPr txBox="1"/>
          <p:nvPr/>
        </p:nvSpPr>
        <p:spPr>
          <a:xfrm>
            <a:off x="905163" y="612124"/>
            <a:ext cx="5996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Memento-comportamiento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4F9AE4-9CA8-662A-543B-89BB9538B061}"/>
              </a:ext>
            </a:extLst>
          </p:cNvPr>
          <p:cNvSpPr txBox="1"/>
          <p:nvPr/>
        </p:nvSpPr>
        <p:spPr>
          <a:xfrm>
            <a:off x="905164" y="1540378"/>
            <a:ext cx="10686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Instantáneas</a:t>
            </a:r>
            <a:r>
              <a:rPr lang="en-US" sz="2000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completas</a:t>
            </a:r>
            <a:r>
              <a:rPr lang="en-US" sz="2000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vs. </a:t>
            </a:r>
            <a:r>
              <a:rPr lang="en-US" sz="2000" dirty="0" err="1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incrementales</a:t>
            </a:r>
            <a:endParaRPr lang="en-US" sz="20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0BDCD8B0-8653-FBE0-709E-89FDA4F35884}"/>
              </a:ext>
            </a:extLst>
          </p:cNvPr>
          <p:cNvSpPr/>
          <p:nvPr/>
        </p:nvSpPr>
        <p:spPr>
          <a:xfrm>
            <a:off x="1420057" y="2831548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7C6C264-1A11-E696-7FBE-C37B39DDAD47}"/>
              </a:ext>
            </a:extLst>
          </p:cNvPr>
          <p:cNvSpPr txBox="1"/>
          <p:nvPr/>
        </p:nvSpPr>
        <p:spPr>
          <a:xfrm>
            <a:off x="1945837" y="2789253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Mementos </a:t>
            </a:r>
            <a:r>
              <a:rPr lang="en-US" sz="2200" b="1" dirty="0" err="1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completos</a:t>
            </a:r>
            <a:endParaRPr lang="en-US" sz="22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B870B3A-10F8-D2DA-7434-5B90005B218C}"/>
              </a:ext>
            </a:extLst>
          </p:cNvPr>
          <p:cNvSpPr txBox="1"/>
          <p:nvPr/>
        </p:nvSpPr>
        <p:spPr>
          <a:xfrm>
            <a:off x="1648657" y="334642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Guardan</a:t>
            </a: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todo</a:t>
            </a: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el </a:t>
            </a:r>
            <a:r>
              <a:rPr lang="en-US" b="1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esta</a:t>
            </a: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</a:p>
          <a:p>
            <a:pPr marL="285750" indent="-285750" algn="ctr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Restauración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exacta</a:t>
            </a:r>
          </a:p>
          <a:p>
            <a:pPr marL="285750" indent="-285750" algn="ctr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Consume </a:t>
            </a:r>
            <a:r>
              <a:rPr lang="en-US" dirty="0" err="1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más</a:t>
            </a: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memoria </a:t>
            </a:r>
          </a:p>
          <a:p>
            <a:pPr marL="285750" indent="-285750" algn="ctr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D4481667-EC79-F580-5806-7EB6082DCEBD}"/>
              </a:ext>
            </a:extLst>
          </p:cNvPr>
          <p:cNvSpPr/>
          <p:nvPr/>
        </p:nvSpPr>
        <p:spPr>
          <a:xfrm>
            <a:off x="6901541" y="2792516"/>
            <a:ext cx="4103915" cy="1776391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858C0DCA-1EAD-3C2B-41B3-28407659CEEF}"/>
              </a:ext>
            </a:extLst>
          </p:cNvPr>
          <p:cNvSpPr txBox="1"/>
          <p:nvPr/>
        </p:nvSpPr>
        <p:spPr>
          <a:xfrm>
            <a:off x="7193278" y="328874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Aft>
                <a:spcPts val="300"/>
              </a:spcAft>
            </a:pPr>
            <a:r>
              <a:rPr lang="en-US" sz="1600" b="1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Guardan</a:t>
            </a:r>
            <a:r>
              <a:rPr lang="en-US" sz="1600" b="1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solo las </a:t>
            </a:r>
            <a:r>
              <a:rPr lang="en-US" sz="1600" b="1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diferencias</a:t>
            </a:r>
            <a:r>
              <a:rPr lang="en-US" sz="1600" b="1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respecto</a:t>
            </a:r>
            <a:r>
              <a:rPr lang="en-US" sz="1600" b="1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 la </a:t>
            </a:r>
            <a:r>
              <a:rPr lang="en-US" sz="1600" b="1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instantánea</a:t>
            </a:r>
            <a:r>
              <a:rPr lang="en-US" sz="1600" b="1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anterior.</a:t>
            </a:r>
          </a:p>
          <a:p>
            <a:pPr marL="285750" indent="-285750" algn="ctr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Ocupa</a:t>
            </a:r>
            <a:r>
              <a:rPr lang="en-US" sz="1600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menos</a:t>
            </a:r>
            <a:r>
              <a:rPr lang="en-US" sz="1600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espacio</a:t>
            </a:r>
            <a:endParaRPr lang="en-US" sz="1600" dirty="0">
              <a:solidFill>
                <a:srgbClr val="1B2A41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 algn="ctr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Recostruye</a:t>
            </a:r>
            <a:r>
              <a:rPr lang="en-US" sz="1600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el </a:t>
            </a:r>
            <a:r>
              <a:rPr lang="en-US" sz="1600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estado</a:t>
            </a:r>
            <a:r>
              <a:rPr lang="en-US" sz="1600" dirty="0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mas </a:t>
            </a:r>
            <a:r>
              <a:rPr lang="en-US" sz="1600" dirty="0" err="1">
                <a:solidFill>
                  <a:srgbClr val="1B2A4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complejo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40D2D27B-9688-A57E-A73D-07317D580BB9}"/>
              </a:ext>
            </a:extLst>
          </p:cNvPr>
          <p:cNvSpPr txBox="1"/>
          <p:nvPr/>
        </p:nvSpPr>
        <p:spPr>
          <a:xfrm>
            <a:off x="7251503" y="275910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Mementos </a:t>
            </a:r>
            <a:r>
              <a:rPr lang="en-US" sz="2200" b="1" dirty="0" err="1">
                <a:solidFill>
                  <a:srgbClr val="13501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incrementales</a:t>
            </a:r>
            <a:endParaRPr lang="en-US" sz="2200" dirty="0">
              <a:solidFill>
                <a:srgbClr val="1350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22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57981-5E33-5285-F1B8-0AC333D32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6DC8C53-4F0A-9742-4072-98077433C25D}"/>
              </a:ext>
            </a:extLst>
          </p:cNvPr>
          <p:cNvSpPr txBox="1"/>
          <p:nvPr/>
        </p:nvSpPr>
        <p:spPr>
          <a:xfrm>
            <a:off x="905164" y="612124"/>
            <a:ext cx="6746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Memento-comportamiento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2C5598-30E3-18D7-F604-34A17EB06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656" y="1676932"/>
            <a:ext cx="6993540" cy="469846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8EBFA2-B6EE-DFE7-A6A4-BE401D94C901}"/>
              </a:ext>
            </a:extLst>
          </p:cNvPr>
          <p:cNvSpPr txBox="1"/>
          <p:nvPr/>
        </p:nvSpPr>
        <p:spPr>
          <a:xfrm>
            <a:off x="905164" y="1540378"/>
            <a:ext cx="10686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de clases...</a:t>
            </a:r>
          </a:p>
        </p:txBody>
      </p:sp>
    </p:spTree>
    <p:extLst>
      <p:ext uri="{BB962C8B-B14F-4D97-AF65-F5344CB8AC3E}">
        <p14:creationId xmlns:p14="http://schemas.microsoft.com/office/powerpoint/2010/main" val="65324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8DE3-E24E-1BC0-4F52-0F62FFA5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4DA4936-6D63-D4F6-9583-37AE0C621431}"/>
              </a:ext>
            </a:extLst>
          </p:cNvPr>
          <p:cNvSpPr txBox="1"/>
          <p:nvPr/>
        </p:nvSpPr>
        <p:spPr>
          <a:xfrm>
            <a:off x="905164" y="612124"/>
            <a:ext cx="693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Fuentes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4C2DD19-A078-32EE-1C5A-242CF28F67F9}"/>
              </a:ext>
            </a:extLst>
          </p:cNvPr>
          <p:cNvSpPr txBox="1"/>
          <p:nvPr/>
        </p:nvSpPr>
        <p:spPr>
          <a:xfrm>
            <a:off x="905164" y="1551264"/>
            <a:ext cx="10686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u="sng" dirty="0">
                <a:hlinkClick r:id="rId2"/>
              </a:rPr>
              <a:t>Patrones de Diseño </a:t>
            </a:r>
            <a:r>
              <a:rPr lang="es-CO" u="sng" dirty="0" err="1">
                <a:hlinkClick r:id="rId2"/>
              </a:rPr>
              <a:t>GoF</a:t>
            </a:r>
            <a:r>
              <a:rPr lang="es-CO" u="sng" dirty="0">
                <a:hlinkClick r:id="rId2"/>
              </a:rPr>
              <a:t> Ya - 17. </a:t>
            </a:r>
            <a:r>
              <a:rPr lang="es-CO" u="sng" dirty="0" err="1">
                <a:hlinkClick r:id="rId2"/>
              </a:rPr>
              <a:t>Flyweight</a:t>
            </a:r>
            <a:r>
              <a:rPr lang="es-CO" u="sng" dirty="0">
                <a:hlinkClick r:id="rId2"/>
              </a:rPr>
              <a:t> (Peso Ligero) - Patrón Estructural</a:t>
            </a:r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u="sng" dirty="0" err="1">
                <a:hlinkClick r:id="rId3"/>
              </a:rPr>
              <a:t>Flyweight</a:t>
            </a:r>
            <a:endParaRPr lang="es-CO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u="sng" dirty="0">
                <a:hlinkClick r:id="rId4"/>
              </a:rPr>
              <a:t>Memento</a:t>
            </a:r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u="sng" dirty="0">
                <a:hlinkClick r:id="rId5"/>
              </a:rPr>
              <a:t>Patrones de Diseño </a:t>
            </a:r>
            <a:r>
              <a:rPr lang="es-CO" u="sng" dirty="0" err="1">
                <a:hlinkClick r:id="rId5"/>
              </a:rPr>
              <a:t>GoF</a:t>
            </a:r>
            <a:r>
              <a:rPr lang="es-CO" u="sng" dirty="0">
                <a:hlinkClick r:id="rId5"/>
              </a:rPr>
              <a:t> Ya - 26. Memento (Recuerdo) - Patrón de Comportamiento</a:t>
            </a:r>
            <a:endParaRPr lang="es-CO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2F966BB-A149-EEDD-2CEF-C8200334F7A1}"/>
              </a:ext>
            </a:extLst>
          </p:cNvPr>
          <p:cNvSpPr/>
          <p:nvPr/>
        </p:nvSpPr>
        <p:spPr>
          <a:xfrm>
            <a:off x="457200" y="31546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846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360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438</Words>
  <Application>Microsoft Office PowerPoint</Application>
  <PresentationFormat>Panorámica</PresentationFormat>
  <Paragraphs>69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Correa Ramirez</dc:creator>
  <cp:lastModifiedBy>Gabriela Ocampo Morales</cp:lastModifiedBy>
  <cp:revision>3</cp:revision>
  <dcterms:created xsi:type="dcterms:W3CDTF">2026-01-14T13:42:52Z</dcterms:created>
  <dcterms:modified xsi:type="dcterms:W3CDTF">2026-09-24T13:00:24Z</dcterms:modified>
</cp:coreProperties>
</file>